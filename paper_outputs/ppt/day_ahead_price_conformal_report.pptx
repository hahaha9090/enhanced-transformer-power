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0fff0b19c49ad" /><Relationship Type="http://schemas.openxmlformats.org/officeDocument/2006/relationships/extended-properties" Target="/docProps/app.xml" Id="Redeacc65fa794003" /><Relationship Type="http://schemas.openxmlformats.org/officeDocument/2006/relationships/officeDocument" Target="/ppt/presentation.xml" Id="Rd587c32671704d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c910f7d8db4a20"/>
  </p:sldMasterIdLst>
  <p:notesMasterIdLst>
    <p:notesMasterId xmlns:r="http://schemas.openxmlformats.org/officeDocument/2006/relationships" r:id="R02833e11c9564e46"/>
  </p:notesMasterIdLst>
  <p:sldIdLst>
    <p:sldId xmlns:r="http://schemas.openxmlformats.org/officeDocument/2006/relationships" id="256" r:id="R7c15888bf0624aa2"/>
    <p:sldId xmlns:r="http://schemas.openxmlformats.org/officeDocument/2006/relationships" id="257" r:id="Rddad60679a8b42c0"/>
    <p:sldId xmlns:r="http://schemas.openxmlformats.org/officeDocument/2006/relationships" id="258" r:id="Raffa486327584185"/>
    <p:sldId xmlns:r="http://schemas.openxmlformats.org/officeDocument/2006/relationships" id="259" r:id="Rb3be263f780e4079"/>
    <p:sldId xmlns:r="http://schemas.openxmlformats.org/officeDocument/2006/relationships" id="260" r:id="R912f3bfe05054792"/>
    <p:sldId xmlns:r="http://schemas.openxmlformats.org/officeDocument/2006/relationships" id="261" r:id="R8a6dd8d161664bf3"/>
    <p:sldId xmlns:r="http://schemas.openxmlformats.org/officeDocument/2006/relationships" id="262" r:id="R4b1dee2813d44873"/>
    <p:sldId xmlns:r="http://schemas.openxmlformats.org/officeDocument/2006/relationships" id="263" r:id="R473908f5605d4fd9"/>
    <p:sldId xmlns:r="http://schemas.openxmlformats.org/officeDocument/2006/relationships" id="264" r:id="R2ca219f0cc6d4f9e"/>
    <p:sldId xmlns:r="http://schemas.openxmlformats.org/officeDocument/2006/relationships" id="265" r:id="Re1228f0378b644ef"/>
    <p:sldId xmlns:r="http://schemas.openxmlformats.org/officeDocument/2006/relationships" id="266" r:id="R5729c82689b5409f"/>
    <p:sldId xmlns:r="http://schemas.openxmlformats.org/officeDocument/2006/relationships" id="267" r:id="R6f7a3e627a414c19"/>
    <p:sldId xmlns:r="http://schemas.openxmlformats.org/officeDocument/2006/relationships" id="268" r:id="R23d8b8a38c774b9b"/>
    <p:sldId xmlns:r="http://schemas.openxmlformats.org/officeDocument/2006/relationships" id="269" r:id="R601769f75d6742bf"/>
    <p:sldId xmlns:r="http://schemas.openxmlformats.org/officeDocument/2006/relationships" id="270" r:id="Rf08a883a39bf4cca"/>
    <p:sldId xmlns:r="http://schemas.openxmlformats.org/officeDocument/2006/relationships" id="271" r:id="R291e838041054b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3e4360b0f44f7a" /><Relationship Type="http://schemas.openxmlformats.org/officeDocument/2006/relationships/slideMaster" Target="/ppt/slideMasters/slideMaster1.xml" Id="Radc910f7d8db4a20" /><Relationship Type="http://schemas.openxmlformats.org/officeDocument/2006/relationships/notesMaster" Target="/ppt/notesMasters/notesMaster1.xml" Id="R02833e11c9564e46" /><Relationship Type="http://schemas.openxmlformats.org/officeDocument/2006/relationships/presProps" Target="/ppt/presProps.xml" Id="R8a90720c94bf429d" /><Relationship Type="http://schemas.openxmlformats.org/officeDocument/2006/relationships/viewProps" Target="/ppt/viewProps.xml" Id="R6a9ad44312e6486b" /><Relationship Type="http://schemas.openxmlformats.org/officeDocument/2006/relationships/tableStyles" Target="/ppt/tableStyles.xml" Id="Rc99c18cad6f04acc" /><Relationship Type="http://schemas.openxmlformats.org/officeDocument/2006/relationships/slide" Target="/ppt/slides/slide1.xml" Id="R7c15888bf0624aa2" /><Relationship Type="http://schemas.openxmlformats.org/officeDocument/2006/relationships/slide" Target="/ppt/slides/slide2.xml" Id="Rddad60679a8b42c0" /><Relationship Type="http://schemas.openxmlformats.org/officeDocument/2006/relationships/slide" Target="/ppt/slides/slide3.xml" Id="Raffa486327584185" /><Relationship Type="http://schemas.openxmlformats.org/officeDocument/2006/relationships/slide" Target="/ppt/slides/slide4.xml" Id="Rb3be263f780e4079" /><Relationship Type="http://schemas.openxmlformats.org/officeDocument/2006/relationships/slide" Target="/ppt/slides/slide5.xml" Id="R912f3bfe05054792" /><Relationship Type="http://schemas.openxmlformats.org/officeDocument/2006/relationships/slide" Target="/ppt/slides/slide6.xml" Id="R8a6dd8d161664bf3" /><Relationship Type="http://schemas.openxmlformats.org/officeDocument/2006/relationships/slide" Target="/ppt/slides/slide7.xml" Id="R4b1dee2813d44873" /><Relationship Type="http://schemas.openxmlformats.org/officeDocument/2006/relationships/slide" Target="/ppt/slides/slide8.xml" Id="R473908f5605d4fd9" /><Relationship Type="http://schemas.openxmlformats.org/officeDocument/2006/relationships/slide" Target="/ppt/slides/slide9.xml" Id="R2ca219f0cc6d4f9e" /><Relationship Type="http://schemas.openxmlformats.org/officeDocument/2006/relationships/slide" Target="/ppt/slides/slide10.xml" Id="Re1228f0378b644ef" /><Relationship Type="http://schemas.openxmlformats.org/officeDocument/2006/relationships/slide" Target="/ppt/slides/slide11.xml" Id="R5729c82689b5409f" /><Relationship Type="http://schemas.openxmlformats.org/officeDocument/2006/relationships/slide" Target="/ppt/slides/slide12.xml" Id="R6f7a3e627a414c19" /><Relationship Type="http://schemas.openxmlformats.org/officeDocument/2006/relationships/slide" Target="/ppt/slides/slide13.xml" Id="R23d8b8a38c774b9b" /><Relationship Type="http://schemas.openxmlformats.org/officeDocument/2006/relationships/slide" Target="/ppt/slides/slide14.xml" Id="R601769f75d6742bf" /><Relationship Type="http://schemas.openxmlformats.org/officeDocument/2006/relationships/slide" Target="/ppt/slides/slide15.xml" Id="Rf08a883a39bf4cca" /><Relationship Type="http://schemas.openxmlformats.org/officeDocument/2006/relationships/slide" Target="/ppt/slides/slide16.xml" Id="R291e838041054b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9576ecf0a940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39a8f5015543d7" /><Relationship Type="http://schemas.openxmlformats.org/officeDocument/2006/relationships/notesMaster" Target="/ppt/notesMasters/notesMaster1.xml" Id="Rb3d473407db147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1946d784a45ed" /><Relationship Type="http://schemas.openxmlformats.org/officeDocument/2006/relationships/notesMaster" Target="/ppt/notesMasters/notesMaster1.xml" Id="R059c1a3bf71a4b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ea6c6282654056" /><Relationship Type="http://schemas.openxmlformats.org/officeDocument/2006/relationships/notesMaster" Target="/ppt/notesMasters/notesMaster1.xml" Id="R4dfa38b816a148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318a59abc415c" /><Relationship Type="http://schemas.openxmlformats.org/officeDocument/2006/relationships/notesMaster" Target="/ppt/notesMasters/notesMaster1.xml" Id="R8b62a3d09ab047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2fb1dc8edd47e5" /><Relationship Type="http://schemas.openxmlformats.org/officeDocument/2006/relationships/notesMaster" Target="/ppt/notesMasters/notesMaster1.xml" Id="R730c110d30d446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24f1cae2034fea" /><Relationship Type="http://schemas.openxmlformats.org/officeDocument/2006/relationships/notesMaster" Target="/ppt/notesMasters/notesMaster1.xml" Id="R05093519298f4a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3c593d4304634" /><Relationship Type="http://schemas.openxmlformats.org/officeDocument/2006/relationships/notesMaster" Target="/ppt/notesMasters/notesMaster1.xml" Id="R0e645fe1e8d049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d7bade30694f18" /><Relationship Type="http://schemas.openxmlformats.org/officeDocument/2006/relationships/notesMaster" Target="/ppt/notesMasters/notesMaster1.xml" Id="R162d082fcdd0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13fd9d4bd649c1" /><Relationship Type="http://schemas.openxmlformats.org/officeDocument/2006/relationships/notesMaster" Target="/ppt/notesMasters/notesMaster1.xml" Id="R8cd57f29f6e341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0d66ac121c4dbc" /><Relationship Type="http://schemas.openxmlformats.org/officeDocument/2006/relationships/notesMaster" Target="/ppt/notesMasters/notesMaster1.xml" Id="R6c6be390d4dc44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703ea28a844585" /><Relationship Type="http://schemas.openxmlformats.org/officeDocument/2006/relationships/notesMaster" Target="/ppt/notesMasters/notesMaster1.xml" Id="Rb1a4861007854e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791c51c8bd437e" /><Relationship Type="http://schemas.openxmlformats.org/officeDocument/2006/relationships/notesMaster" Target="/ppt/notesMasters/notesMaster1.xml" Id="R0799238d6d6145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b69a541e004463" /><Relationship Type="http://schemas.openxmlformats.org/officeDocument/2006/relationships/notesMaster" Target="/ppt/notesMasters/notesMaster1.xml" Id="R3e16e05ed82d4b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ee26ed9f0349b4" /><Relationship Type="http://schemas.openxmlformats.org/officeDocument/2006/relationships/notesMaster" Target="/ppt/notesMasters/notesMaster1.xml" Id="R1501a30ca24941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55231d1af0447b" /><Relationship Type="http://schemas.openxmlformats.org/officeDocument/2006/relationships/notesMaster" Target="/ppt/notesMasters/notesMaster1.xml" Id="R8a0c24c26bab44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a4eb9261d94255" /><Relationship Type="http://schemas.openxmlformats.org/officeDocument/2006/relationships/notesMaster" Target="/ppt/notesMasters/notesMaster1.xml" Id="R03a7bebd4fee41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a52ea3b5d46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a868de77904b87" /><Relationship Type="http://schemas.openxmlformats.org/officeDocument/2006/relationships/slideLayout" Target="/ppt/slideLayouts/slideLayout1.xml" Id="R06dd93c322dc45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dd93c322dc45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645d7d000425d" /><Relationship Type="http://schemas.openxmlformats.org/officeDocument/2006/relationships/notesSlide" Target="/ppt/notesSlides/notesSlide1.xml" Id="R16a3f9fd13ff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2c010a4804fca" /><Relationship Type="http://schemas.openxmlformats.org/officeDocument/2006/relationships/notesSlide" Target="/ppt/notesSlides/notesSlide2.xml" Id="R84b627633e9c47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5c40cbd1249da" /><Relationship Type="http://schemas.openxmlformats.org/officeDocument/2006/relationships/notesSlide" Target="/ppt/notesSlides/notesSlide3.xml" Id="R102250e7bc4b46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e3ed952e8472a" /><Relationship Type="http://schemas.openxmlformats.org/officeDocument/2006/relationships/notesSlide" Target="/ppt/notesSlides/notesSlide4.xml" Id="R571322edfb7649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f673f61f46aa" /><Relationship Type="http://schemas.openxmlformats.org/officeDocument/2006/relationships/notesSlide" Target="/ppt/notesSlides/notesSlide5.xml" Id="Rcffdb982b59c49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644cdaee04c15" /><Relationship Type="http://schemas.openxmlformats.org/officeDocument/2006/relationships/notesSlide" Target="/ppt/notesSlides/notesSlide6.xml" Id="R254ca1c6ac014e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5cc338fb7402e" /><Relationship Type="http://schemas.openxmlformats.org/officeDocument/2006/relationships/notesSlide" Target="/ppt/notesSlides/notesSlide7.xml" Id="R1c12ea1f31aa4a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b7ce4f1bb4aea" /><Relationship Type="http://schemas.openxmlformats.org/officeDocument/2006/relationships/notesSlide" Target="/ppt/notesSlides/notesSlide8.xml" Id="R6da3d952f45946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d43e7aa5f4656" /><Relationship Type="http://schemas.openxmlformats.org/officeDocument/2006/relationships/notesSlide" Target="/ppt/notesSlides/notesSlide9.xml" Id="Rb2d5946ffc6b40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64aa077174c67" /><Relationship Type="http://schemas.openxmlformats.org/officeDocument/2006/relationships/image" Target="/ppt/media/image.png" Id="R8022fbce3f184666" /><Relationship Type="http://schemas.openxmlformats.org/officeDocument/2006/relationships/notesSlide" Target="/ppt/notesSlides/notesSlide10.xml" Id="Re287cbc7a7914d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53541e0664101" /><Relationship Type="http://schemas.openxmlformats.org/officeDocument/2006/relationships/notesSlide" Target="/ppt/notesSlides/notesSlide11.xml" Id="R6c4d3a64e7d842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8ca98b0cc4b51" /><Relationship Type="http://schemas.openxmlformats.org/officeDocument/2006/relationships/notesSlide" Target="/ppt/notesSlides/notesSlide12.xml" Id="Rb37949d6e0c744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0d5ef4e674849" /><Relationship Type="http://schemas.openxmlformats.org/officeDocument/2006/relationships/notesSlide" Target="/ppt/notesSlides/notesSlide13.xml" Id="R9d8c32dc0fac4d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5da443dbc468f" /><Relationship Type="http://schemas.openxmlformats.org/officeDocument/2006/relationships/notesSlide" Target="/ppt/notesSlides/notesSlide14.xml" Id="R7c214a10a88542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ff69c13b14617" /><Relationship Type="http://schemas.openxmlformats.org/officeDocument/2006/relationships/notesSlide" Target="/ppt/notesSlides/notesSlide15.xml" Id="R01966044d44f4b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b642f018044d9" /><Relationship Type="http://schemas.openxmlformats.org/officeDocument/2006/relationships/notesSlide" Target="/ppt/notesSlides/notesSlide16.xml" Id="R844bdb3bc60144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17672-1913-4C33-BEFD-635BC96E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226B0-DB8D-4B4C-B0AE-98352BC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220"/>
              </a:gs>
              <a:gs pos="58000">
                <a:srgbClr val="102A43"/>
              </a:gs>
              <a:gs pos="100000">
                <a:srgbClr val="0F766E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FDEEB-AA93-4663-AAC1-622DABC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E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BE7D8"/>
                </a:solidFill>
                <a:latin typeface="Microsoft YaHei"/>
                <a:ea typeface="Microsoft YaHei"/>
                <a:cs typeface="Microsoft YaHei"/>
              </a:rPr>
              <a:t>论文详细汇报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823EF-FBB7-41F3-B221-C8823BF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28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日前电价概率预测中的在线共形校准方法复现与改进思路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12EF-3B82-49F1-B39D-EE153FD4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FB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FBE8"/>
                </a:solidFill>
                <a:latin typeface="Microsoft YaHei"/>
                <a:ea typeface="Microsoft YaHei"/>
                <a:cs typeface="Microsoft YaHei"/>
              </a:rPr>
              <a:t>已有强基线 → 缺陷诊断 → 针对性改进 → 同一实验框架验证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B51FC-5228-484F-9206-FAF25187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2584B-6B25-48B3-82B1-23DDD34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复现基础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3133A-AE20-4F58-A116-F109C24C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AF7"/>
                </a:solidFill>
                <a:latin typeface="Microsoft YaHei"/>
                <a:ea typeface="Microsoft YaHei"/>
                <a:cs typeface="Microsoft YaHei"/>
              </a:rPr>
              <a:t>7 个市场 · 14 类方法 · 完整评价指标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809A6-620A-48E6-83D3-FDFFC0F5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386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9B4F4-C106-4582-B7A7-0F124AF9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48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8B9FA-617A-4C4D-9D84-FAADD0E3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910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AF7"/>
                </a:solidFill>
                <a:latin typeface="Microsoft YaHei"/>
                <a:ea typeface="Microsoft YaHei"/>
                <a:cs typeface="Microsoft YaHei"/>
              </a:rPr>
              <a:t>分小时 PICP / Kupiec / Winkler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C4871-B7C7-430C-8B00-1FBEEF70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F4FF3-BB4B-492F-8E38-C6F2C448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48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3C4B2-A6EC-495E-BE6F-DF42E894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910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AF7"/>
                </a:solidFill>
                <a:latin typeface="Microsoft YaHei"/>
                <a:ea typeface="Microsoft YaHei"/>
                <a:cs typeface="Microsoft YaHei"/>
              </a:rPr>
              <a:t>H-OCQ 与 HV-OCQ 后处理校准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35C2D-92B9-4807-9F61-FCAD742C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8D6E5"/>
                </a:solidFill>
                <a:latin typeface="Microsoft YaHei"/>
                <a:ea typeface="Microsoft YaHei"/>
                <a:cs typeface="Microsoft YaHei"/>
              </a:rPr>
              <a:t>基准论文：On-line conformalized neural networks ensembles for probabilistic forecasting of day-ahead electricity prices</a:t>
            </a:r>
          </a:p>
        </p:txBody>
      </p:sp>
    </p:spTree>
    <p:extLst>
      <p:ext uri="{BB962C8B-B14F-4D97-AF65-F5344CB8AC3E}">
        <p14:creationId xmlns:p14="http://schemas.microsoft.com/office/powerpoint/2010/main" val="18056547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7C8C85-7C74-4FD2-B2A5-1F292803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1D38-E7CD-4351-BFFC-695AFFD9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66CF3-2FD4-44C6-8865-68A8A3E4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43729-B81B-4C2F-8BDB-53B48487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汇报主线：不是简单复现，而是继承强基线后做针对性改进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A2EC2-17C6-4BE3-8A10-BBDB504E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2C8E3-D409-464A-A467-201186AD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B8911-B6FB-4079-9A18-5EE6E681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240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先确认原论文 OCQ 是强基线：在同一数据集和评价口径下复现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08AD2-413C-4DA2-BFBE-70EEECAD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EE88F-E1DF-4697-A1F8-CAAE7914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再做细粒度诊断：整体覆盖好，不代表每小时和高波动状态都稳定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3C263-CB27-400C-8A32-BE928888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7B059-A365-4CE9-8C1A-9B36DD5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最后提出新方法：小时条件化 + 波动感知的在线共形校准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97C91-C2CB-43CD-8EE9-6C69B695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7B0A7-3339-4EFE-886F-4FFFC0BA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讲法：这页先把老师带入你的论文逻辑，强调“复现是起点，改进是目标”。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28F29-AADD-4304-8906-27D12CE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4580D-70C6-4FE5-BF3F-641B2A69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62764-1766-4D2E-B55B-0055F1E4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44271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4EA0B6-F9B0-4F4D-B50C-DCDBF530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72BF1-1D9A-4FC6-80AF-FE217905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96018-5C0A-430C-9DFF-3AABA90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A870F-09BA-40B3-BAFE-603181CF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研究背景：日前电价预测更需要“不确定性”而不是单一点值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9D673-429E-413D-8CCE-40B868B1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66D7C-2A4F-4498-BF2D-833C380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847EE-F322-409F-AEFD-25C6F7B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A883B-25F3-4F41-A91F-4B1CE83C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电价本身难预测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308D1-C7AA-41EE-93AA-7C9AEC0E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95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受负荷、新能源出力、交易行为和市场规则影响，具有尖峰、非平稳和日内周期。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E6691-29E8-4B5D-9EEF-A1C40CDE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C8F5F-8F91-4431-BE7B-C73D0C5C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48772-9D74-4271-9BAA-349E311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点预测不够用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9B108-EC07-4DE9-8AB9-EF6A99B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895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点预测只能给一个价格，不能回答“未来价格风险有多大、区间是否可靠”。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5C0EB-9BD7-4D5C-BAA3-CA0876E9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8C2D7-9141-454C-B83C-71DC1DF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6A112-3932-4FA5-8D99-578C45FA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概率预测要校准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EADF9-DEA1-4E28-89A8-EC986826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95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预测区间必须既覆盖真实价格，又不能无限变宽；这正是共形校准的价值。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F9BC8-73F1-4E8A-ABD9-3E6F767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54D7A-26F7-4FB0-AED5-AB60CCE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讲法：把背景压缩成一句话：电价风险管理需要可靠预测区间。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691AC-4B65-483A-B86E-6BA7E63C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E031B-57D1-4091-8B7E-AC777620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A3D82-F496-4DBB-8F9D-F729148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60534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BCBBF-C604-4EDB-9E6C-E92A903C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D8A9D-743E-4CD2-9B46-681A8521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0FFE1-A050-455C-B6E2-6C31DE47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ADA43-DAD3-46F7-AE31-921B6241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基准论文解决的问题：让神经网络概率预测区间更可靠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5DEB4-8A6C-414B-8127-484C9E32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CC8F9-93D1-412F-9DAB-8C8539DD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基准论文：On-line conformalized neural networks ensembles for probabilistic forecasting of day-ahead electricity prices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74064-7E3E-4423-9502-B88FE803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59BE6-9DE2-409F-B9C0-B293D4C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研究对象：日前电价概率预测，不是普通点预测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5A166-B614-4395-AF73-B485C4A5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E604B-5D99-40B5-B099-F4400EE2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技术路线：神经网络概率预测 + 共形后处理 + 在线更新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DAF4E-5CDC-4322-B16E-7D35383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50C3D-7D33-4CBF-8BC4-ADF43145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主要价值：提升预测区间覆盖率，尤其关注不同小时的校准可靠性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5DDF-A7A0-4A6D-A0F5-FBF342A7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4F69F-5163-433B-A9EC-AFD2BF41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对我论文的作用：提供强基线、完整代码和公平对比框架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82A78-0C3F-406D-9836-66196775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91CDD-25B6-490A-98B2-550FE53D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讲法：强调你不是另起炉灶，而是继承一篇强相关论文。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42157-0E36-489F-986A-B36F1033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7D4A6-CFF5-4E96-A1D7-1E74DE13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1969D-7D7F-4D4E-A302-0CA1BE65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90093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21E4B-8868-485C-937F-D82F571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B0F9A-CC9F-40E4-BDB2-744ACD35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8524B-8993-4F7B-AED4-59886DA4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A5C2E-55FA-4D70-9370-A622717B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方法体系：原始概率模型、后处理基线、共形校准、在线共形校准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F28BF-E259-4B35-81CF-952D1302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1CF5A-CB88-4CDE-9ECD-C079CF4D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ED7FC-E9E6-4280-9F85-F6287AE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9B2F2-DBAC-4BE6-8949-6258D4AE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原始概率预测模型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6DB62-1F29-4930-A08A-A5D47C0F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N-DNN / JSU-DNN</a:t>
            </a:r>
          </a:p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STU-DNN / QR-DNN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F1ED6-904E-411E-8B87-8CF9DD02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8C71F-DF70-4F5C-B2EE-7FD408FB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A0AAA-58E9-4B2D-BF49-7E66F791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后处理基线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D00AF-D25F-4701-A065-162C3517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33625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QRA / 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75F28-2434-4FD7-9F6D-168CE06F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ED73E-B9A2-4815-89B0-CFF38B5C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439E7-A976-4B76-9E72-A261B93F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716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共形校准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39BDB-8C9A-4798-AB1C-5BEC4165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33625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CQ-N / CQ-JSU</a:t>
            </a:r>
          </a:p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CQ-STU / CQ-QR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4DB6A-3E56-4101-812C-1BF7092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62125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32A51-EECB-4267-A3C0-F76E5E8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621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F16EA-F269-43E7-81B4-B432F22F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716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在线共形校准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3629C-2A2F-45D1-A33B-CA32FCB8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33625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OCQ-N / OCQ-JSU</a:t>
            </a:r>
          </a:p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OCQ-STU / OCQ-QR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25446-D938-4B4F-A34B-D4ACDA05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6F6A3-BB88-4B0F-80AB-98B4AF2F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讲法：这页说明复现的是完整方法族，不是只跑了一个模型。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4147F-4273-43B2-A279-5B519798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B9FF9-BA73-41C9-AFF1-EA56F2E2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0D533-7111-4962-B12A-57CFC2FA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72176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C387F-75A7-4CCD-B0FE-E62D4914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BC167-FE45-4713-99F8-8FFEB77A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16A20-DAF3-41E7-9CE3-BB94FC04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2077A-3469-407D-91E1-146DFE7B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OCQ 的核心位置：不重训预测器，只校准预测区间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10B10-46C4-4FC5-93C1-38780C3A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F769C-6CD8-4EF4-9EB2-4C2F6983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266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1D033-A8E4-4967-A011-F554FB65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56D38-6760-42BC-B2F6-3D49759F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基础概率预测器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9F3C6-8613-4CC5-8F39-36F8350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924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输出分位数/分布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5527F-704A-4705-9DA5-35143A03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8CCF8-A91E-45AB-B81D-47BC6E1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2266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40EE1-D089-4CBD-9D5F-7B7405E8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FC444-CF88-4E8B-90BE-D96A1A5F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预测区间构造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70A6E-8401-499A-A562-400003B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1924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给出名义置信区间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D58B7-C0D8-47D8-BD78-B687E839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9D754-B2D6-4EAF-B730-0B09FEA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266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7E5B9-7CD2-4619-AABB-1FFB8FE0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B13A7-5706-4609-B7E9-9AFE707B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CQ / OCQ 校准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61312-93EE-45BD-AC7E-1E8D06E8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1924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基于历史误差修正区间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1E907-85B0-48D7-80E3-384D34F7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65BB0-35D7-4FBF-A89C-4050925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2266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1ACD2-5480-4490-8DB7-938A687C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C1798-ACE7-4C6A-A2A1-E7DFEFFC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860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在线更新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814D7-0E3C-478E-A237-7A6DBB99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924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新观测到来后更新校准状态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D9D8E9-3256-4AB4-B2CD-AFBC95D1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2B6FA-AFE0-4B1F-9DB3-86289F60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我的改进不会替换前面的基础预测器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086591-7B87-4666-8E31-FF1AC939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103B0F-F0C4-48C9-8A42-AEEF5F7F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只在“CQ / OCQ 校准”这一层做小时条件化和波动感知增强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B38875-6C27-4605-88C0-2E61A646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0FA33-1ABD-4141-BC83-54FE1C1C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ECDF7A-B271-46EB-AEAE-78A19986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45694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829BB-8E2A-4A67-AA6B-A4F72E18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2C3B9-FA2D-4C64-BF53-9BBE5590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A653D-D900-4616-97CD-8E386BA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F8C66-021D-4BA3-8273-1281C3D9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评价指标：重点看校准可靠性，而不是只看 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0F44F-CC94-44B3-A2FF-4446F834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A71F9-CA09-4CE6-B818-3D0C25EA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3BAB9-B73F-4AD5-8F9B-70F1D893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6FE02-748E-448F-A2CF-BFAC95EB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PICP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44F4C-DF82-4698-879B-3DE57F8C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覆盖率</a:t>
            </a:r>
          </a:p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接近名义水平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FE422-58F9-4300-80E4-A5DEF129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05605-F6C2-4179-B66D-3AB7CA4C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D3C12-BDF3-4AAD-BFF4-F730DBE8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335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Kupiec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C3E1-C78C-469C-8433-64757911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每小时覆盖可靠性</a:t>
            </a:r>
          </a:p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通过越多越好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7A92B-5F36-4625-B2F4-E46E58AE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B5B6F-E15A-4423-AEC4-1905F438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063FA-7123-4AFC-A973-86CAAEF0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335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Winkler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E52F9-13DA-4654-AD9C-01472713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区间宽度 + 未覆盖惩罚</a:t>
            </a:r>
          </a:p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越小越好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1F6E6-83A8-4F9F-951B-7B37A3D2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76A2B-DD7B-4333-BE5A-B2CF2E09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F6884-7CF2-4C9D-B655-403D1D89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Pinball 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B7DC2-A588-4CEB-B042-8DF5845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分位数预测质量</a:t>
            </a:r>
          </a:p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越小越好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FBC4A-D1D6-4E54-8D99-83A369A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E7E6D-86B0-4B11-8C86-EDDC0A4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21473-3808-4B9A-8F67-69DF5CAF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DM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6C91E-0065-4FEE-88DD-4DF66B97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86200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方法间显著性</a:t>
            </a:r>
          </a:p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p-value 判断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C558E-8836-4C12-A7FE-4C072C6B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1480B-4E7C-4C5C-8D1E-21A1C651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讲法：提醒老师：这里不是以 MAE 为核心，而是以不确定性校准为核心。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710912-9C92-46A7-AD70-22B1ADE7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16CC2-0D2C-4DD6-8E19-29D2F81C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CF793-C11D-4618-9510-75D5C774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6993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E439FA-87E7-4B5B-8017-A5F63F1E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03E4B-B413-4EDC-8074-B9E34CA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86502-AE0F-438B-B6E4-D483F7E3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5109-9535-457B-A06C-267D6F5E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复现工作量：已完成 7 个市场、14 类方法、完整结果导出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E4104-2EC1-4412-A6AB-9A134EF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E28E8-1F35-4130-9365-82150D79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E10D1-8617-424A-8049-522959A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109EB-D640-4892-B904-F6734F6A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97D3A-EA03-4DA9-BADF-9D5DA3D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电力市场：德国 + 意大利区域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E2563-DB49-4EC3-81EA-B93F5D8B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859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909F9-F05C-4435-8292-53177920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41DD3-7BA6-435F-AE2A-DB90DCF0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57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A3CA0-C1C5-42E0-854A-DD8B9A60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方法配置：基础模型到 OCQ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65C15-2237-420E-8714-7CC26194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15D49-0ABB-4DA6-AF39-9745A59C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D0140-550D-413A-8AD3-91E6A1A4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19141-0438-494E-B5BF-0A3FCFAE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均值 KPI 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72124-4A89-4BE4-87F2-3937221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859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DF543-4FFC-448D-B656-BDC6E966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859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F25E7-1A63-4C44-8D04-5DD5EFB7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6481E-0D40-40FA-ACB3-2137E31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导出结果文件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C1FD8-E2D4-461C-BA19-6D2EA4C8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0F2EB-2CED-47AA-80CA-FD2CCD55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已导出：summary_all_markets_mean_kpis.csv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2BBC2-C23F-4662-B60C-8334263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D9A48-E1BB-47BF-B3A5-0C406DE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已导出：分小时 PICP、Kupiec 检验、DM 检验矩阵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740A6-3C31-4C5E-8479-D6EB531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438A4D-7102-4D5C-BF95-7FB73472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已生成：论文结果表、诊断图、Word 框架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654FD-44D0-4B65-9763-141D24D2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61DC3-0F3B-4654-8304-33BD756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886EA-7275-4E58-9EA7-F6574FEE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7833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1B9C2-3BA4-4F8C-A693-2C8F88B3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6C05A-044F-45C9-8B10-2AF4D6D7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21A5C-2560-4A50-8CBB-551416EF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F08AB-07DB-45B9-AE82-6859E791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关键复现结论：OCQ 显著提升分小时覆盖可靠性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E40B9-3102-409B-B4D8-4001326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23BBC-60E8-4CC1-A0B0-8172D9FF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Kupiec 通过小时数：衡量 24 个小时覆盖是否可靠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95A56-E770-477B-B5BB-4F946064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alpha=0.2 原始模型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387E5-7352-4443-B9ED-55C5F3A3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7EEF9-AAB4-4837-90D1-3964F6CC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21424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80623-B05A-4F85-812F-99A7F07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8597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9.64/24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DA2DB-37E6-4802-9202-9C2B6905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alpha=0.2 OCQ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2C29D-4FE0-40D3-B709-0EE6EC93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3C481-0DD3-46BA-8CA4-922223C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495395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BC1CA-DA96-4A27-9ECA-CB72F40D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937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22.29/24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EE077-178A-4CF4-AB54-1A877972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alpha=0.4 原始模型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F0758-19A6-43E3-B8D6-45963C1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04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7A1DD-09B6-4356-9DD2-4124538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0400"/>
            <a:ext cx="249142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A5C6F-BABF-41A3-888C-6BD318A6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11.21/24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36627-9C1F-48C5-A140-0E290427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alpha=0.4 OCQ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5F373-3BE2-4D62-913D-35F13C8C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15E41-11CC-4821-A4AD-CDCEF1C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5262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C4D15-468E-4AA0-86C2-F6A809B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8617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23.68/24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27143-F6D2-4C6D-BDB3-9BFDE47F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F271D-E7A6-4EE7-9479-6C33E1BE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5C644-9F56-454B-9538-26CE4E96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+131.11%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5B95C-E2FE-403C-8BE1-B0F46B65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alpha=0.2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OCQ 相对原始模型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086ED-F339-4DDC-AD6C-98B56E30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361C5A-508A-433E-AB39-48E53369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5F55B-7CCA-4250-A7E4-282095C5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+111.15%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DEEAAC-C016-4DA0-953F-B26DFA5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alpha=0.4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OCQ 相对原始模型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AEDF14-998C-4633-96EF-1E39D13F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0A698-1B5F-4080-9F9E-70E4228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结论：OCQ 是有效强基线；后续改进必须在它之上做细粒度增强。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B760AD-7FC6-4768-A7D5-AB135B5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11EBD0-0D71-4FE1-890C-17652A28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6F5CF9-F23D-4A49-BD4B-77353BDA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5002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19EA0-C4CF-490E-8848-C8FDBA6D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8377D-2D3C-4317-8F91-36DAD603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C7B85-4101-41D5-8904-D562769C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4B54A-A798-443C-9FB9-7A45BBFA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强基线不是完美终点：整体有效后还要看小时维度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9C7D5-771A-4580-87DB-7023C24B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2fbce3f184666"/>
          <a:stretch xmlns:a="http://schemas.openxmlformats.org/drawingml/2006/main"/>
        </p:blipFill>
        <p:spPr>
          <a:xfrm xmlns:a="http://schemas.openxmlformats.org/drawingml/2006/main">
            <a:off x="992943" y="1428750"/>
            <a:ext cx="7158115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E1BEC-36CF-4CB6-87EB-900EC096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381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E2186-341D-4808-BB13-CAB23E3F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ABA73-8023-4C92-A62B-CB5D78E7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288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947AC-E9A4-4570-BE2C-9A6A6A1A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038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横轴是 24 个小时，纵轴是 PICP。虚线是名义覆盖水平；曲线越贴近虚线，说明该小时覆盖越可靠。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1B36B-5440-4EBE-ACAA-8755A40D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381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72366-771A-4F9D-A4FB-D85F8753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14A55-53FF-485B-A600-BBAE41F0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诊断意义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38ABD-2E83-4827-A741-14BF07C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62400"/>
            <a:ext cx="2038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整体指标变好后，还要追问：哪些小时仍偏离？高波动时段是否更不稳定？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3474E-FDF5-4485-860C-84E52A7E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886C3-E44A-48AC-851B-336B746B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69460-C7CC-4ECC-801D-D7A5BA59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53217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B1AC7-2633-43F5-94E6-F76BCDA9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48A86-B5A9-47B7-B6FA-E25D88A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D4143-A8E8-47E7-9AC6-47FD8284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8FCBF-5AF3-4F3B-A8A8-0660E7A2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诊断入口：日前电价存在小时异质性与波动状态异质性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56CEF-738A-443E-BF73-93B43C2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EE411-2CF1-4C70-BD7E-06F31CE6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F6ABF-B7D8-4E91-B853-F6FDC162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32F83-4C3B-4E3C-BDDB-3A7F1EB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小时异质性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2C5AB-62DD-43A0-B27C-EB34F81F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2800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每天 24 小时对应不同负荷、交易行为和价格分布；误差不应简单共享同一校准状态。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4DB43-75E9-4135-867D-09DD407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47C93-0F45-4349-BC76-D43D304D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68F21-393E-47DF-B30E-3590C8F1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335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波动状态异质性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9079B-E0D5-4E4F-8F9D-FF7F6005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95500"/>
            <a:ext cx="2800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高波动时段更容易覆盖不足；低波动时段可能出现区间过宽。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FEBFC-8781-4F5A-A6B1-42EEE284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67998-E33A-4BCB-9464-AE900DDF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D844A-2B76-40DB-A280-532F1EEC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诊断后改进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486B1-34E5-4E24-9007-F393D554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800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先从复现结果中识别问题，再针对问题设计校准机制。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04922-A38E-45C7-B881-5EDAE5F7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2B30D-5225-405C-BFE9-44189E85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00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论文创新入口：不是否定 OCQ，而是把 OCQ 细化到“小时 + 波动状态”的校准层面。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E7932-123C-4872-A6EC-8C9BECA1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95794-2A40-4B6B-BDB8-FB2C206F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E1584-EB43-4A6C-BC84-66B6BFB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84596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59EE46-2194-4707-820D-73680D63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C9C30-FDC5-4A12-9747-1900DA9C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73056-5E8E-4429-B68D-99EA1FA9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B0221-ABA4-4A8D-98C5-BEFF6871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我的改进思路：H-OCQ 与 HV-OCQ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564C6-846E-4110-8367-3DB9FACD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167FC-93F1-4A3F-84C5-9CFE5E67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4762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2AF29-3D2E-46C2-B2B3-1D2257CE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78C01-9006-461D-9C89-A054B5A9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H-OCQ：小时条件化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3B4B6-E8AF-4878-9F1B-5B3EE6D3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19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按 24 个小时分别维护校准误差或校准分位数；目标是改善分小时覆盖率，减少某些小时系统性偏离。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8CD93-42D2-4B7C-AE44-4D7ABC56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762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CAE56-02D0-4BE2-8909-8D0C6D5E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CCB88-D562-494C-A5D7-C8CFA95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HV-OCQ：小时 + 波动感知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C8B4C-76A8-419B-B184-B35DD1CF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4419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在 H-OCQ 基础上引入近期价格波动强度；高波动时段适当扩大区间，低波动时段控制区间效率。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13D8D-4DF5-4E5A-84E7-B016FCC3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03927-2B9D-441E-A3C4-D04B1BB9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不重训神经网络预测器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1A272-E8CF-41F0-8184-2348AD7E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7004D-3578-4BA3-8C97-3A2552F5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49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不改变原论文数据划分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82731-5BCE-4F10-8DC1-423B67D7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4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5B434-7228-408D-A4F2-53080CDD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768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只改进共形校准后处理层，保证公平对比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F92C9-180D-4F10-9E91-7ED77B18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95F8B-AC6D-491A-8C1A-ACC94635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B349B-D73C-4488-9EB1-F3B1FB41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288900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A4422A-686E-4B31-A003-2FF74597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8C933-EEC6-484C-87D6-839197C1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94A60-94CB-42D4-97A8-595415FC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43D15-11DA-4E5F-AD10-02170CAE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同一实验框架下验证：保证改进可归因于校准方法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2DF15-338C-44CB-BA0A-8B461421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9C108-129A-41B1-BFEC-D6FF8938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80492-6281-49F7-80E1-7D393221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333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64532-86EC-47DD-AFDE-BAD5C58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990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同一数据集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BB022-B211-4E7F-A7C6-E853712A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9907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DE_price + MGP 六个区域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17892-58E0-4B14-A90E-91B39A2C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145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17465-5E71-4D93-AAF7-F00524C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14500"/>
            <a:ext cx="2333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A381B-CD8E-4478-B4CD-0B833914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924050"/>
            <a:ext cx="1990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同一基础模型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C1268-C4C7-4013-BCBB-2952B433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86000"/>
            <a:ext cx="19907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QR / STU / JSU / N-DNN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20D15-6D6E-4913-AAFA-C94DC65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9A2FA-C6FF-46A4-8099-4A3E999B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2333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24844-61A1-4062-BF10-86DF1F4B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1990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同一基线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92CA8-DE15-462F-A2EE-FB2D6DD8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19907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CP / QRA / CQ / OCQ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D4987-40BD-4D15-A89D-9B7B3F0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145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7CC4A-E250-4161-98B0-40D2B7E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14500"/>
            <a:ext cx="2333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99E6F-C97F-402A-AC0A-07262CDE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24050"/>
            <a:ext cx="1990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3E7D6-00E5-46B4-8910-6E630D04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86000"/>
            <a:ext cx="19907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PICP / Kupiec / Winkler / Pinball / DM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E3AB7-7841-4745-84B2-D9CF4FD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验证重点：H-OCQ / HV-OCQ 是否在分小时覆盖与高波动场景下优于 OCQ，且 Winkler 不明显恶化。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A92D9-9260-4C9C-8DC0-D7745FBE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9381A-E927-418D-904D-B0A91983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讲法：同一框架是你的论文可信度来源，避免“换数据、换模型导致结果不可比”。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CF878E-0F46-4B4D-A711-0C853AF1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E5202-4F53-4104-B31C-D0FB5754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72F17-569A-4F6E-93B9-96342E70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77722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8A009C-E1D1-4B6C-8F18-0B6F3A06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193B-95B5-45A5-BF4D-34FAD1FE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32CFA-B331-4016-AA7A-8288095F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DDD5B-6268-4C19-8F80-502B93B1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当前可放入论文的结果表：代表性市场与方法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E9FCA-B502-4793-9E5A-D91EC248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7E63C-17FC-4DC0-B6BB-865AF4CC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4901E-4423-40A0-B5A6-34B0DD02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FDC34-2CC4-45EB-980C-EB306A51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250D8-7783-4039-B2E8-27EBD6CE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049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25467-EA1D-402F-984D-D903B41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28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E7A40-83C1-4BEE-B508-8B460ED0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Pinball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12766-63D8-4273-B495-3B446230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DD6F3-45E4-4E53-8FA6-41DECBF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049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PICP 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6E227-9F1E-4EFF-9DF7-84071DF1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5726F-2638-4A5B-A545-BBF191CE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049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Kupiec 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DB0D2-B493-4336-A354-6BB08F17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BF233-08C0-4F8E-9D08-1852AF5B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Winkler 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A137E-68D2-4795-A737-10C2F57D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0E5B6-681C-4289-BE7F-BE358E64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DA5A9-A32F-4475-A923-987F7620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526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D0B96-2899-4A5A-840C-9DC65F80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288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QR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CC0D7-7CE5-48AD-B4FA-32D9C9C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526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93B8E-140E-4543-A13E-88E5F9BF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1.474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B2A57-4C72-48C9-9C3B-81D52BA4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52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C2C6C-35BF-4202-9683-0177CD78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288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62954-F029-4619-9D0B-4D4F1BD4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30036-729C-4721-BA90-DB5D6049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288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FB636-734C-46D2-85A8-BCC7A47E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EE40D-C19A-4C98-8C71-DBD02E0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288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17.71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DA150-7778-4365-8962-65EECA8C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764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BFEBA-2C54-4211-94C8-A433B709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235BC-B421-4050-99DC-19AC8CC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F0C69F-39E4-4E29-B8DA-F9C572A6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CQR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4BFD0B-E777-4E15-8D89-FFE9F2F5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76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CD9E1-B3B4-41D2-AC14-1B12036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1.462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615C10-6CEE-4C4E-A0D7-B526CB71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D6FD23-BC50-4656-8505-8832AABE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526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1AA3F9-0C84-4CBE-B2F2-DC3F3E29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1A5F45-08B9-45E4-9EDD-FC372D74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4AFFC5-D2FB-4115-85A4-B737E48F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539D20-3296-47B8-A622-C29B55BD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17.50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5B510C-72E5-4DA0-B089-7B7A327E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AA8FD0-1F82-4FE6-8ADE-48A59B1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15B526-A2C1-48F6-9C30-CCB9D32B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03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742720-B4A5-4F04-A457-C3DD8F42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765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OCQR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985681-8B09-4322-9249-7D6F17A5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D87950-E9D3-4C17-9E20-EE33BA13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1.459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9E8455-CE78-472D-BABB-3F5AE274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D80699-CF7D-421A-9E09-228970B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D5A589-EEFD-4293-858C-76E061F3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FD7546-666C-4DD0-8332-93D18D2C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83BC47-05A3-4560-8D3C-85FFF9D0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48F944-7EE9-408B-82C5-0EAC119C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17.45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D5A71C-DCD8-4B02-B1CC-5DBA76CB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44ECEE-E2A7-4DDD-80B5-45CE0E74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NORD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6D39FD-3162-419A-8A39-0605100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C237BC-1D0F-4CA3-B123-0BA1020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QR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3D8C76-1287-410D-8D9D-A1D3F8E8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6E811C-46E0-4DB0-9874-960C5C88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03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1.806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C3072B-C8A9-41B3-99B8-5E0EA56E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67FB7A-5B99-46BA-92A8-54E25164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76E3DC-A4EE-44FF-8C53-00A5285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29900C-0085-4E86-8DB7-AB8467CF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03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F73D63-0368-4C69-BA5A-C6B79031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81CF99-D4CB-481B-91F0-1320958A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22.07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E078B3-E6B7-40B0-8D01-A3B2CAFC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32014D-7418-449E-9385-7610C1D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NORD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33C084D-D4D6-496C-A36A-B19C4382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2B9454-9B5C-4725-99F0-60FFFD46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242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CQR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416634-F387-4DFD-94C9-AA3F6DA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8F50EA-9F9D-470E-85E7-4DD839E6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24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1.810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A2556EE-79C0-49BD-9657-BBB499C4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1E58381-797A-4E08-91D6-C084FC81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242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B5EF06-F1C3-4DFC-9DCE-7FFB0D35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62997CE-6D15-44E2-8B5C-86836FD6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242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5C703B-28C4-4D23-A6F9-174BD9CF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6593D7-6C4F-4994-99FD-09249C26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242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21.84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2F9EE1-6EC6-4B19-9B3F-BB3DC5E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1C16451-34B7-4B2D-9EDD-F12D2D5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NORD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BB137AD-5F9D-41AD-9B42-BB0399C4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81C90E5-1932-4677-A7D5-0B74332D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480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OCQR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59ECB5-6295-4DA0-8A57-112BB75D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4E4214-ED55-49C8-83BD-29136630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480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1.800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BBB302-74DB-4C3A-BE65-A11FB03F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E590B5-AD06-4AC1-B79E-5E862132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480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432E255-54D6-4178-A321-0C1D4630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B5C893-46B6-437A-B5EA-54B18A33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480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EAB2AA-AF1F-462B-8117-6AE81280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F95BE20-65AB-4D0D-A37E-FBB748C1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21.69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63D442-38C9-4F96-BEA8-1D5E80F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957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5E24767-A157-4679-838C-5BF6DFD7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SARD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999277-D773-460B-83CB-9149DF8C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35D52F-C0AF-4B2A-820A-FFFFCB99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719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QR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16CCFE9-06CC-4391-BEC6-A48D4271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957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079FEB-67D2-473E-B785-CFFA42A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71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2.879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80CECA-A39B-4B31-AC99-4FA8E03F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16B1821-F3A2-4DBF-AD59-4F306C5D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719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F39497C-3D11-4392-A332-458D7BB8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ABEA692-89AC-4F94-8982-2797F737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719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40262F1-551C-431F-9469-3D65620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6907E12-9D48-4C78-B48F-6D7F74BB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34.42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759DBA1-CA88-4497-951F-036D0243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8F827B-2917-496E-962D-4293B636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SARD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077D2C6-C6BA-4EA9-A3CE-CF30C1BC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10AEE60-7FD9-4FF0-A7EB-4F146CCF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9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CQR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0EFE2A-0115-4C5C-8B56-570BAFC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95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BE36918-05B1-41EA-974C-8A43899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957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2.866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62F2E0D-BADE-42C8-9BD0-50C98D12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95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15F2707-0264-4278-BAE2-21F8FCE3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957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DECEB83-36E0-4F37-8619-D4D31B35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95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A124026-4504-4C98-B0F1-7A4EF7FD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957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945535E-2220-4335-89FA-33D4BE12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671F924-13A7-4497-9729-85B70852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33.67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7EB2618-2EC1-4F42-9C48-79D476DB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2E8F27E-3023-48DA-95F6-76C28ED8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SARD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77BF62C-B97E-4DC8-9513-FE6BA2B8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06BE77E-CE6D-40D1-89AB-5F7D5BA4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OCQR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1409903-37CC-4B25-83DC-81223ABF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434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57F95CF-0720-4DAD-9E91-F1F05982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9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2.864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08DA39C-5B24-413A-B9D0-07361E3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48B514-E82F-4804-B35D-FF1D736E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196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79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A97B6A4-360B-4DDA-869C-F8221A61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F71F05D-F718-4640-A638-2F705C32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96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79363F0-D84A-491D-BC76-ABB578D8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A4987B9-0DDA-4051-A66C-9FEE3433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196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33.60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0A28CED-2165-45CF-8476-1255A917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1432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6EC49E9-A496-4810-8883-DC2B31D1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BAA9C20-B8DD-4D97-92F3-2BC8796F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表格讲法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AF2DED-5FFD-4C13-BD94-9E854D55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2800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选典型市场即可，不需要 PPT 中塞完整 98 行结果。完整表格作为附件或论文结果表保留。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C62228A-E607-4E3C-B626-C05ECFD0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C483DA7-CBA5-4CBD-9CAB-34FF3CEB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结论：OCQR 相比 QR 在 Kupiec 通过小时数上更稳定，是后续 H/HV-OCQ 的直接对比对象。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1F2C798-A10E-48B2-88FC-46646EAE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1E29227-06E9-46C7-B6D7-D6363075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F0D85E4-57FF-4333-BAC0-F8268391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99495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BADA7-6628-492F-B214-44AB0FE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6267B-E4D6-4F69-A797-57A8ECA3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4CA2E-B6A4-40E9-94ED-EC201A46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4446D-62BA-4399-BE15-7AE7F23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后续计划：从读懂原论文到完成新方法闭环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C3477-2DDE-4DA5-9512-F29B44BE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0F01B-0915-48F5-BB1D-3BDBBAB2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0BB62-DED5-4754-B4FC-848D3406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800DB-0607-467A-A6D3-5982BF0F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00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读懂原论文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35E7C-78AC-4FFB-91F2-729D387D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1432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 OCQ 的在线更新机制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7D1B3-76F5-4D6A-BFE0-7D395665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38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E7A7F-5F35-49B2-85CE-D6F32C6E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05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E1814-CAF3-4B53-94D5-8CC32302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75774-6D2D-4614-87AD-9D270AFB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读代码实现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21FEC-9038-4AE6-A4DE-EA81576A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432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定位 CP/CQ/OCQ 后处理模块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4ED00-B2D6-4CC5-8DF9-45BAA587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401E8-9208-4FF9-82D3-A59CC402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15AFB-C8A9-4BCD-BE4E-2CDE0ED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4F88F-84AF-4E31-9761-4F481FF1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实现 H-OCQ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DA7AE-E150-4307-99AC-7F866D8E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按小时维护校准状态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BA2F2-8C6D-4B5E-A643-4BD82A4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364A4-3ABA-4491-A49D-B5A390BA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44621-D9C8-4303-82A5-DC79EDF6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26E0C-1D83-4CE6-A041-84E5BFC3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实现 HV-OCQ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9A227-CE1B-4B36-B01B-796461C1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加入近期波动强度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DE450-5347-42C7-BCBA-3E6250C1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B609C-70DF-4969-91E2-9CDA9330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B1EE1-36A4-4866-9CA3-400B5BE7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F4996-D167-4FEB-9DE9-3889DFAF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重跑导出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A21E30-E718-47E7-A68A-3BE639FE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生成新方法结果和消融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07EEBE-1D1D-4C10-91FB-083675B7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A31B2-7C30-4F12-A394-ACC5EEC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3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讲法：你现在不是没方向，而是处在“复现完成，准备实现改进”的节点。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0B273-20A0-4B9C-BAC0-5A26439D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565C99-52E2-42A4-9D08-1102D1BF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505A96-8DDF-4CD5-AF14-4933450B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945844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98F1C5-EB1B-4905-A463-F2787B06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01D19-7AB4-4D0C-96E8-94B1A2E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5A419-B30A-4A09-9D43-6A0383DD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E5AF9-0B3B-470D-9981-654E497F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47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汇报总结：我的论文闭环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0736D-976C-4E58-A98B-78355E63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Conformal EPF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DA444-6A4B-40AD-B130-DAB66BA1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ACBD1-EB9D-40BB-BDEF-1FAEE28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009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本研究以已有在线共形校准方法为强基线，通过复现确认其有效性，再从小时异质性和波动状态异质性出发进行缺陷诊断，进一步提出小时条件化波动感知校准方法，并计划在同一实验框架下验证改进效果。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A8D55-A582-4F3F-A01E-8A03B29A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DE742-1729-41E4-8C28-09F6F8E1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4FC46-172C-4336-A0BD-6204BF48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32526-0DC8-4FCF-A0AE-7F9C89D5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复现实验 + 结果导出 + 初步诊断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E2E69-4236-491F-ADE5-84BDE61E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CE446-C2D1-4983-8601-C29FB631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C2464-7F1B-4DF8-8A41-07FE773E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正在推进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551C2-EED3-46CA-A8D9-A96AAB7C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读懂原论文 + 定位 OCQ 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F285F-6760-4857-ABE0-8458F1F9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9C891-6649-4CEA-B30F-A4E49BBB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71418-D095-4FD9-A2D8-E002D996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EDC53-6815-41E8-AACE-BE12EA46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实现 H-OCQ / HV-OCQ 并验证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3B106-8F8F-4CEB-A6A8-303F7578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4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16EB0-9057-4F5A-BB4E-FC54939A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基准论文复现 / 缺陷诊断 / 针对性改进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AFAFC-1D76-4259-AA01-23C10C51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9059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2026-06-06T06:46:32.4840000Z</dcterms:created>
  <dcterms:modified xsi:type="dcterms:W3CDTF">2026-06-06T06:46:32.4840000Z</dcterms:modified>
</coreProperties>
</file>